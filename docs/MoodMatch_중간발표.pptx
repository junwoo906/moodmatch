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B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640080"/>
            <a:ext cx="2926080" cy="292608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2743200"/>
            <a:ext cx="2194560" cy="2194560"/>
          </a:xfrm>
          <a:prstGeom prst="ellipse">
            <a:avLst/>
          </a:prstGeom>
          <a:solidFill>
            <a:srgbClr val="F6C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4023360"/>
            <a:ext cx="1463040" cy="1463040"/>
          </a:xfrm>
          <a:prstGeom prst="ellipse">
            <a:avLst/>
          </a:prstGeom>
          <a:solidFill>
            <a:srgbClr val="F5E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1097280"/>
            <a:ext cx="640080" cy="640080"/>
          </a:xfrm>
          <a:prstGeom prst="ellipse">
            <a:avLst/>
          </a:prstGeom>
          <a:solidFill>
            <a:srgbClr val="F6C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 lang="ko-KR" altLang="en-US">
                <a:solidFill>
                  <a:srgbClr val="DCEFEB"/>
                </a:solidFill>
                <a:latin typeface="맑은 고딕"/>
                <a:ea typeface="맑은 고딕"/>
              </a:rPr>
              <a:t>중간발표  ·  2026.10.27 (화)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7200" b="1" lang="ko-KR" altLang="en-US">
                <a:solidFill>
                  <a:srgbClr val="FFFFFF"/>
                </a:solidFill>
                <a:latin typeface="맑은 고딕"/>
                <a:ea typeface="맑은 고딕"/>
              </a:rPr>
              <a:t>MoodMatch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7772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lang="ko-KR" altLang="en-US">
                <a:solidFill>
                  <a:srgbClr val="FFFFFF"/>
                </a:solidFill>
                <a:latin typeface="맑은 고딕"/>
                <a:ea typeface="맑은 고딕"/>
              </a:rPr>
              <a:t>오늘 기분 한 문장이면,
딱 맞는 팝업·카페·전시까지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572000"/>
            <a:ext cx="914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lang="ko-KR" altLang="en-US">
                <a:solidFill>
                  <a:srgbClr val="DCEFEB"/>
                </a:solidFill>
                <a:latin typeface="맑은 고딕"/>
                <a:ea typeface="맑은 고딕"/>
              </a:rPr>
              <a:t>팀원: (이름 입력)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과제 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8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기분 한 마디로 찾는 오늘의 갈 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54864"/>
          </a:xfrm>
          <a:prstGeom prst="rect">
            <a:avLst/>
          </a:prstGeom>
          <a:solidFill>
            <a:srgbClr val="0D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MoodMatch  ·  중간발표 2026.10.27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</a:pPr>
            <a:r>
              <a:rPr sz="10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2 /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92608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너무 많고, 너무 빨리 바뀌는 팝업과 전시. 내 취향이면서 지금 열려 있는 곳 찾기는 늘 어려운 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1168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8600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해결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26080"/>
            <a:ext cx="292608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“친구랑 귀여운 거 보면서 사진 찍고 싶어” 같은 한 문장으로 끝. 느낌이 비슷한 곳은 AI가 골라 주기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01168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DCEFEB"/>
          </a:solidFill>
          <a:ln w="12700">
            <a:solidFill>
              <a:srgbClr val="0D6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차별점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26080"/>
            <a:ext cx="292608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설문지 대신 한 문장! 날짜·예산·운영 여부는 코드가 꼼꼼히 걸러서, 지금 갈 수 있는 곳만 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전체 과제의 입력 및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8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한 문장이 추천이 되기까지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54864"/>
          </a:xfrm>
          <a:prstGeom prst="rect">
            <a:avLst/>
          </a:prstGeom>
          <a:solidFill>
            <a:srgbClr val="0D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MoodMatch  ·  중간발표 2026.10.27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</a:pPr>
            <a:r>
              <a:rPr sz="10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3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입력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29260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26517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사용자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기분·취향 문장 1개 + 방문 날짜, 지역, 예산 선택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77639"/>
            <a:ext cx="29260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69080"/>
            <a:ext cx="26517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장소 데이터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팝업·카페·전시의 이름, 지역, 운영 기간, 가격, 소개글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82880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처리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2240280"/>
            <a:ext cx="731520" cy="685800"/>
          </a:xfrm>
          <a:prstGeom prst="roundRect">
            <a:avLst>
              <a:gd name="adj" fmla="val 8000"/>
            </a:avLst>
          </a:prstGeom>
          <a:solidFill>
            <a:srgbClr val="1B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240280"/>
            <a:ext cx="7315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FFFFFF"/>
                </a:solidFill>
                <a:latin typeface="맑은 고딕"/>
                <a:ea typeface="맑은 고딕"/>
              </a:rPr>
              <a:t>코드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2240280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240280"/>
            <a:ext cx="329184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조건 필터: 운영 기간·지역·예산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3081528"/>
            <a:ext cx="731520" cy="685800"/>
          </a:xfrm>
          <a:prstGeom prst="roundRect">
            <a:avLst>
              <a:gd name="adj" fmla="val 8000"/>
            </a:avLst>
          </a:prstGeom>
          <a:solidFill>
            <a:srgbClr val="0D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3081528"/>
            <a:ext cx="7315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FFFFFF"/>
                </a:solidFill>
                <a:latin typeface="맑은 고딕"/>
                <a:ea typeface="맑은 고딕"/>
              </a:rPr>
              <a:t>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3081528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081528"/>
            <a:ext cx="329184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문장을 의미 벡터로 변환 (사용자 문장, 장소 소개글)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3922776"/>
            <a:ext cx="731520" cy="685800"/>
          </a:xfrm>
          <a:prstGeom prst="roundRect">
            <a:avLst>
              <a:gd name="adj" fmla="val 8000"/>
            </a:avLst>
          </a:prstGeom>
          <a:solidFill>
            <a:srgbClr val="1B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3922776"/>
            <a:ext cx="7315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FFFFFF"/>
                </a:solidFill>
                <a:latin typeface="맑은 고딕"/>
                <a:ea typeface="맑은 고딕"/>
              </a:rPr>
              <a:t>코드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3922776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922776"/>
            <a:ext cx="329184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의미 유사도 계산 → 순위 결정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4764024"/>
            <a:ext cx="731520" cy="685800"/>
          </a:xfrm>
          <a:prstGeom prst="roundRect">
            <a:avLst>
              <a:gd name="adj" fmla="val 8000"/>
            </a:avLst>
          </a:prstGeom>
          <a:solidFill>
            <a:srgbClr val="1B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4764024"/>
            <a:ext cx="7315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FFFFFF"/>
                </a:solidFill>
                <a:latin typeface="맑은 고딕"/>
                <a:ea typeface="맑은 고딕"/>
              </a:rPr>
              <a:t>코드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4764024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764024"/>
            <a:ext cx="329184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추천 이유 표시, 피드백 저장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611880" y="3611880"/>
            <a:ext cx="274320" cy="365760"/>
          </a:xfrm>
          <a:prstGeom prst="rightArrow">
            <a:avLst/>
          </a:prstGeom>
          <a:solidFill>
            <a:srgbClr val="5C6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8321040" y="3611880"/>
            <a:ext cx="274320" cy="365760"/>
          </a:xfrm>
          <a:prstGeom prst="rightArrow">
            <a:avLst/>
          </a:prstGeom>
          <a:solidFill>
            <a:srgbClr val="5C68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182880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출력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2240280"/>
            <a:ext cx="2926080" cy="3337560"/>
          </a:xfrm>
          <a:prstGeom prst="roundRect">
            <a:avLst>
              <a:gd name="adj" fmla="val 8000"/>
            </a:avLst>
          </a:prstGeom>
          <a:solidFill>
            <a:srgbClr val="DCEFEB"/>
          </a:solidFill>
          <a:ln w="12700">
            <a:solidFill>
              <a:srgbClr val="0D6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2377440"/>
            <a:ext cx="265176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추천 장소 Top 3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3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이름, 지역, 가격, 얼마나 잘 맞는지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추천 이유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3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내 기분과 왜 잘 맞는지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피드백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좋아요 / 별로예요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사용 AI의 종류, 입력,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8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비용 0원, AI 두 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54864"/>
          </a:xfrm>
          <a:prstGeom prst="rect">
            <a:avLst/>
          </a:prstGeom>
          <a:solidFill>
            <a:srgbClr val="0D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MoodMatch  ·  중간발표 2026.10.27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</a:pPr>
            <a:r>
              <a:rPr sz="10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4 /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480560"/>
                <a:gridCol w="347472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AI</a:t>
                      </a:r>
                    </a:p>
                  </a:txBody>
                  <a:tcPr marL="109728" marR="109728" anchor="ctr">
                    <a:solidFill>
                      <a:srgbClr val="0D6B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입력</a:t>
                      </a:r>
                    </a:p>
                  </a:txBody>
                  <a:tcPr marL="109728" marR="109728" anchor="ctr">
                    <a:solidFill>
                      <a:srgbClr val="0D6B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출력</a:t>
                      </a:r>
                    </a:p>
                  </a:txBody>
                  <a:tcPr marL="109728" marR="109728" anchor="ctr">
                    <a:solidFill>
                      <a:srgbClr val="0D6B5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300" b="1" lang="ko-KR" altLang="en-US">
                          <a:solidFill>
                            <a:srgbClr val="0D6B5F"/>
                          </a:solidFill>
                          <a:latin typeface="맑은 고딕"/>
                          <a:ea typeface="맑은 고딕"/>
                        </a:rPr>
                        <a:t>① 문장 임베딩 모델
ko-sroberta-multitask
(무료, 내 PC에서 실행)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사용자 문장
예: “혼자 조용하게 작품 감상하고 싶어”
장소 소개글
예: “흑백 풍경 사진을 모은 차분한 사진전”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문장의 의미를 담은 숫자 768개(벡터)
→ 가까울수록 비슷한 느낌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300" b="1" lang="ko-KR" altLang="en-US">
                          <a:solidFill>
                            <a:srgbClr val="0D6B5F"/>
                          </a:solidFill>
                          <a:latin typeface="맑은 고딕"/>
                          <a:ea typeface="맑은 고딕"/>
                        </a:rPr>
                        <a:t>② 생성형 AI (Claude)
(데이터 정리용)</a:t>
                      </a:r>
                    </a:p>
                  </a:txBody>
                  <a:tcPr marL="109728" marR="109728" anchor="ctr">
                    <a:solidFill>
                      <a:srgbClr val="F6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팝업 안내 문구</a:t>
                      </a:r>
                    </a:p>
                  </a:txBody>
                  <a:tcPr marL="109728" marR="109728" anchor="ctr">
                    <a:solidFill>
                      <a:srgbClr val="F6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이름·기간·지역·가격을 정리한 JSON
→ 장소 데이터 파일에 등록</a:t>
                      </a:r>
                    </a:p>
                  </a:txBody>
                  <a:tcPr marL="109728" marR="109728" anchor="ctr">
                    <a:solidFill>
                      <a:srgbClr val="F6F7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892040"/>
            <a:ext cx="10881360" cy="1097280"/>
          </a:xfrm>
          <a:prstGeom prst="roundRect">
            <a:avLst>
              <a:gd name="adj" fmla="val 8000"/>
            </a:avLst>
          </a:prstGeom>
          <a:solidFill>
            <a:srgbClr val="DC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98348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AI의 몫은 문장의 ‘느낌’ 이해하기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날짜·예산 필터와 순위는 코드 담당. 그래서 결과는 늘 일정하고, 끝난 팝업은 절대 추천하지 않음. 비용은 0원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AI 사용 실 사례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8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말만 바꿨을 뿐인데, 달라진 추천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54864"/>
          </a:xfrm>
          <a:prstGeom prst="rect">
            <a:avLst/>
          </a:prstGeom>
          <a:solidFill>
            <a:srgbClr val="0D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MoodMatch  ·  중간발표 2026.10.27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</a:pPr>
            <a:r>
              <a:rPr sz="10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5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demo/recommend.py 실제 실행 결과  ·  테스트 장소 9곳(가상 예시 8 + 실제 팝업 1)  ·  방문일 2026-10-31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30352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사용자 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“친구랑 귀여운 거 보면서 사진 많이 찍고 굿즈도 사고 싶어”  · 예산 1만원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530352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834640"/>
            <a:ext cx="41148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8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852928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캐릭터 팝업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145536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성수 · 무료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081528"/>
            <a:ext cx="1371600" cy="109728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0" y="3081528"/>
            <a:ext cx="768096" cy="109728"/>
          </a:xfrm>
          <a:prstGeom prst="rect">
            <a:avLst/>
          </a:prstGeom>
          <a:solidFill>
            <a:srgbClr val="0D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834640"/>
            <a:ext cx="594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</a:pPr>
            <a:r>
              <a:rPr sz="13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0.56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47872"/>
            <a:ext cx="530352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547872"/>
            <a:ext cx="41148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8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356616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짱구는 못말려 전시 ★실제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385876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성수 · 가격 미확인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794760"/>
            <a:ext cx="1371600" cy="109728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31920" y="3794760"/>
            <a:ext cx="685800" cy="109728"/>
          </a:xfrm>
          <a:prstGeom prst="rect">
            <a:avLst/>
          </a:prstGeom>
          <a:solidFill>
            <a:srgbClr val="0D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3547872"/>
            <a:ext cx="594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</a:pPr>
            <a:r>
              <a:rPr sz="13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0.50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61104"/>
            <a:ext cx="530352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" y="4261104"/>
            <a:ext cx="41148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8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4279392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레트로 게임 팝업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457200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홍대 · 무료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4507992"/>
            <a:ext cx="1371600" cy="109728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31920" y="4507992"/>
            <a:ext cx="562356" cy="109728"/>
          </a:xfrm>
          <a:prstGeom prst="rect">
            <a:avLst/>
          </a:prstGeom>
          <a:solidFill>
            <a:srgbClr val="0D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4261104"/>
            <a:ext cx="594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</a:pPr>
            <a:r>
              <a:rPr sz="13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0.41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057400"/>
            <a:ext cx="530352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사용자 B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“혼자 조용하게 작품 감상하면서 생각 정리하고 싶어”  · 예산 3만원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834640"/>
            <a:ext cx="530352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2834640"/>
            <a:ext cx="41148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8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59" y="2852928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북카페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59" y="3145536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종로 · 7,000원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3081528"/>
            <a:ext cx="1371600" cy="109728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3081528"/>
            <a:ext cx="781812" cy="109728"/>
          </a:xfrm>
          <a:prstGeom prst="rect">
            <a:avLst/>
          </a:prstGeom>
          <a:solidFill>
            <a:srgbClr val="0D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81359" y="2834640"/>
            <a:ext cx="594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</a:pPr>
            <a:r>
              <a:rPr sz="13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0.57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547872"/>
            <a:ext cx="530352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59" y="3547872"/>
            <a:ext cx="41148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8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59" y="356616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미디어아트 전시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59" y="385876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종로 · 20,000원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60" y="3794760"/>
            <a:ext cx="1371600" cy="109728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09760" y="3794760"/>
            <a:ext cx="699516" cy="109728"/>
          </a:xfrm>
          <a:prstGeom prst="rect">
            <a:avLst/>
          </a:prstGeom>
          <a:solidFill>
            <a:srgbClr val="0D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81359" y="3547872"/>
            <a:ext cx="594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</a:pPr>
            <a:r>
              <a:rPr sz="13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0.51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261104"/>
            <a:ext cx="530352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59" y="4261104"/>
            <a:ext cx="41148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8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59" y="4279392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사진전 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59" y="457200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용산 · 10,000원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760" y="4507992"/>
            <a:ext cx="1371600" cy="109728"/>
          </a:xfrm>
          <a:prstGeom prst="rect">
            <a:avLst/>
          </a:prstGeom>
          <a:solidFill>
            <a:srgbClr val="D9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09760" y="4507992"/>
            <a:ext cx="699516" cy="109728"/>
          </a:xfrm>
          <a:prstGeom prst="rect">
            <a:avLst/>
          </a:prstGeom>
          <a:solidFill>
            <a:srgbClr val="0D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81359" y="4261104"/>
            <a:ext cx="594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</a:pPr>
            <a:r>
              <a:rPr sz="13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0.51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138928"/>
            <a:ext cx="5943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lang="ko-KR" altLang="en-US">
                <a:solidFill>
                  <a:srgbClr val="B4462F"/>
                </a:solidFill>
                <a:latin typeface="맑은 고딕"/>
                <a:ea typeface="맑은 고딕"/>
              </a:rPr>
              <a:t>미리 걸러 낸 곳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종료된 팝업 G → 운영 종료   ·   향수 팝업 H → 11/5 시작이라 아직 시작 전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미디어아트 전시 B → 사용자 A 예산 초과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5138928"/>
            <a:ext cx="43891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잘 맞는 정도(유사도)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내 문장과 소개글이 얼마나 비슷한지.
1에 가까울수록 찰떡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AI 사용 실 사례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8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실제 팝업 안내문, AI가 데이터로 착착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54864"/>
          </a:xfrm>
          <a:prstGeom prst="rect">
            <a:avLst/>
          </a:prstGeom>
          <a:solidFill>
            <a:srgbClr val="0D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MoodMatch  ·  중간발표 2026.10.27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</a:pPr>
            <a:r>
              <a:rPr sz="10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6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입력  ·  실제 팝업 안내문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3035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짱구는 못말려 전시 - 놀자! 시공간 대모험
📅 2026.10.17(토) ~ 2027.01.24(일) / 매일 11:00~20:00
📍 성동구 연무장5길 9-29
짱구와 함께 시공간을 넘나드는 몰입형 캐릭터 전시가 열려요.
인터랙티브 공간에서 뛰놀고 짱구·친구들과 포토도 남겨보세요.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5303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출처: 팝가(popga.co.kr) 「2026년 10월 성수 팝업스토어 총정리」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5303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요청: “이 안내문에서 이름·지역·기간·가격·소개를 JSON으로 정리. 없는 정보는 null”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출력  ·  생성형 AI(Claude)가 정리한 데이터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48840"/>
            <a:ext cx="5212080" cy="3108960"/>
          </a:xfrm>
          <a:prstGeom prst="roundRect">
            <a:avLst>
              <a:gd name="adj" fmla="val 8000"/>
            </a:avLst>
          </a:prstGeom>
          <a:solidFill>
            <a:srgbClr val="DC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93776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{
  "name": "짱구는 못말려 전시 - 놀자! 시공간 대모험",
  "type": "전시",
  "region": "성수",
  "start": "2026-10-17",
  "end": "2027-01-24",
  "price": null,
  "desc": "짱구와 함께 시공간을 넘나드는 몰입형
           캐릭터 전시. 인터랙티브 공간에서 뛰놀고
           짱구와 친구들과 사진도 남길 수 있다"
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532120"/>
            <a:ext cx="10881360" cy="594360"/>
          </a:xfrm>
          <a:prstGeom prst="roundRect">
            <a:avLst>
              <a:gd name="adj" fmla="val 8000"/>
            </a:avLst>
          </a:prstGeom>
          <a:solidFill>
            <a:srgbClr val="0D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32120"/>
            <a:ext cx="1042416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lang="ko-KR" altLang="en-US">
                <a:solidFill>
                  <a:srgbClr val="FFFFFF"/>
                </a:solidFill>
                <a:latin typeface="맑은 고딕"/>
                <a:ea typeface="맑은 고딕"/>
              </a:rPr>
              <a:t>이 데이터를 추천 목록에 넣고 돌려 보니  →  사용자 A(“귀여운 거 보면서 사진 찍고 싶어”)에게 2위로 추천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기획 발전 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8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더 간단하게, 비용은 0원으로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54864"/>
          </a:xfrm>
          <a:prstGeom prst="rect">
            <a:avLst/>
          </a:prstGeom>
          <a:solidFill>
            <a:srgbClr val="0D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MoodMatch  ·  중간발표 2026.10.27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</a:pPr>
            <a:r>
              <a:rPr sz="10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7 /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8813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  <a:gridCol w="46634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109728" marR="109728" anchor="ctr">
                    <a:solidFill>
                      <a:srgbClr val="0D6B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처음 계획</a:t>
                      </a:r>
                    </a:p>
                  </a:txBody>
                  <a:tcPr marL="109728" marR="109728" anchor="ctr">
                    <a:solidFill>
                      <a:srgbClr val="0D6B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바꾼 계획</a:t>
                      </a:r>
                    </a:p>
                  </a:txBody>
                  <a:tcPr marL="109728" marR="109728" anchor="ctr">
                    <a:solidFill>
                      <a:srgbClr val="0D6B5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lang="ko-KR" altLang="en-US">
                          <a:solidFill>
                            <a:srgbClr val="0D6B5F"/>
                          </a:solidFill>
                          <a:latin typeface="맑은 고딕"/>
                          <a:ea typeface="맑은 고딕"/>
                        </a:rPr>
                        <a:t>취향 입력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취향 질문지 여러 개에 답하기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문장 하나로 기분·취향 말하기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lang="ko-KR" altLang="en-US">
                          <a:solidFill>
                            <a:srgbClr val="0D6B5F"/>
                          </a:solidFill>
                          <a:latin typeface="맑은 고딕"/>
                          <a:ea typeface="맑은 고딕"/>
                        </a:rPr>
                        <a:t>취향 비교</a:t>
                      </a:r>
                    </a:p>
                  </a:txBody>
                  <a:tcPr marL="109728" marR="109728" anchor="ctr">
                    <a:solidFill>
                      <a:srgbClr val="F6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태그 목록을 정하고 장소마다 태그 붙이기, 가중치 점수</a:t>
                      </a:r>
                    </a:p>
                  </a:txBody>
                  <a:tcPr marL="109728" marR="109728" anchor="ctr">
                    <a:solidFill>
                      <a:srgbClr val="F6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문장 임베딩으로 의미 유사도 계산 (태그 관리 불필요)</a:t>
                      </a:r>
                    </a:p>
                  </a:txBody>
                  <a:tcPr marL="109728" marR="109728" anchor="ctr">
                    <a:solidFill>
                      <a:srgbClr val="F6F7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lang="ko-KR" altLang="en-US">
                          <a:solidFill>
                            <a:srgbClr val="0D6B5F"/>
                          </a:solidFill>
                          <a:latin typeface="맑은 고딕"/>
                          <a:ea typeface="맑은 고딕"/>
                        </a:rPr>
                        <a:t>사용 AI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GPT API 3종 (유료)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무료 임베딩 모델 + 생성형 AI로 데이터 정리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lang="ko-KR" altLang="en-US">
                          <a:solidFill>
                            <a:srgbClr val="0D6B5F"/>
                          </a:solidFill>
                          <a:latin typeface="맑은 고딕"/>
                          <a:ea typeface="맑은 고딕"/>
                        </a:rPr>
                        <a:t>데이터</a:t>
                      </a:r>
                    </a:p>
                  </a:txBody>
                  <a:tcPr marL="109728" marR="109728" anchor="ctr">
                    <a:solidFill>
                      <a:srgbClr val="F6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검색 API 자동 수집, 매일 갱신</a:t>
                      </a:r>
                    </a:p>
                  </a:txBody>
                  <a:tcPr marL="109728" marR="109728" anchor="ctr">
                    <a:solidFill>
                      <a:srgbClr val="F6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공식 안내문 정리 + 종료일 지나면 자동 제외</a:t>
                      </a:r>
                    </a:p>
                  </a:txBody>
                  <a:tcPr marL="109728" marR="109728" anchor="ctr">
                    <a:solidFill>
                      <a:srgbClr val="F6F7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lang="ko-KR" altLang="en-US">
                          <a:solidFill>
                            <a:srgbClr val="0D6B5F"/>
                          </a:solidFill>
                          <a:latin typeface="맑은 고딕"/>
                          <a:ea typeface="맑은 고딕"/>
                        </a:rPr>
                        <a:t>비용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API 사용량만큼 발생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0원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그대로 지킨 원칙  느낌 이해는 AI, 필터와 순위는 코드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lang="ko-KR" altLang="en-US">
                <a:solidFill>
                  <a:srgbClr val="0D6B5F"/>
                </a:solidFill>
                <a:latin typeface="맑은 고딕"/>
                <a:ea typeface="맑은 고딕"/>
              </a:rPr>
              <a:t>최종 발표까지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800" b="1" lang="ko-KR" altLang="en-US">
                <a:solidFill>
                  <a:srgbClr val="1B2422"/>
                </a:solidFill>
                <a:latin typeface="맑은 고딕"/>
                <a:ea typeface="맑은 고딕"/>
              </a:rPr>
              <a:t>최종 발표까지 5주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48640" cy="54864"/>
          </a:xfrm>
          <a:prstGeom prst="rect">
            <a:avLst/>
          </a:prstGeom>
          <a:solidFill>
            <a:srgbClr val="0D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MoodMatch  ·  중간발표 2026.10.27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</a:pPr>
            <a:r>
              <a:rPr sz="10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8 /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108813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6400800"/>
                <a:gridCol w="256032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기간</a:t>
                      </a:r>
                    </a:p>
                  </a:txBody>
                  <a:tcPr marL="109728" marR="109728" anchor="ctr">
                    <a:solidFill>
                      <a:srgbClr val="0D6B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할 일</a:t>
                      </a:r>
                    </a:p>
                  </a:txBody>
                  <a:tcPr marL="109728" marR="109728" anchor="ctr">
                    <a:solidFill>
                      <a:srgbClr val="0D6B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결과물</a:t>
                      </a:r>
                    </a:p>
                  </a:txBody>
                  <a:tcPr marL="109728" marR="109728" anchor="ctr">
                    <a:solidFill>
                      <a:srgbClr val="0D6B5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 lang="ko-KR" altLang="en-US">
                          <a:solidFill>
                            <a:srgbClr val="0D6B5F"/>
                          </a:solidFill>
                          <a:latin typeface="맑은 고딕"/>
                          <a:ea typeface="맑은 고딕"/>
                        </a:rPr>
                        <a:t>10/28 – 11/3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실제 팝업·전시·카페 20곳 정리 (공식 안내문 + AI 정리)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장소 데이터 파일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 lang="ko-KR" altLang="en-US">
                          <a:solidFill>
                            <a:srgbClr val="0D6B5F"/>
                          </a:solidFill>
                          <a:latin typeface="맑은 고딕"/>
                          <a:ea typeface="맑은 고딕"/>
                        </a:rPr>
                        <a:t>11/4 – 11/10</a:t>
                      </a:r>
                    </a:p>
                  </a:txBody>
                  <a:tcPr marL="109728" marR="109728" anchor="ctr">
                    <a:solidFill>
                      <a:srgbClr val="F6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웹 화면 만들기: 문장 입력, 날짜·지역·예산 선택, 결과 카드</a:t>
                      </a:r>
                    </a:p>
                  </a:txBody>
                  <a:tcPr marL="109728" marR="109728" anchor="ctr">
                    <a:solidFill>
                      <a:srgbClr val="F6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Streamlit 웹</a:t>
                      </a:r>
                    </a:p>
                  </a:txBody>
                  <a:tcPr marL="109728" marR="109728" anchor="ctr">
                    <a:solidFill>
                      <a:srgbClr val="F6F7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 lang="ko-KR" altLang="en-US">
                          <a:solidFill>
                            <a:srgbClr val="0D6B5F"/>
                          </a:solidFill>
                          <a:latin typeface="맑은 고딕"/>
                          <a:ea typeface="맑은 고딕"/>
                        </a:rPr>
                        <a:t>11/11 – 11/17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추천 이유 표시, 좋아요/별로예요 반영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완성된 추천 흐름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 lang="ko-KR" altLang="en-US">
                          <a:solidFill>
                            <a:srgbClr val="0D6B5F"/>
                          </a:solidFill>
                          <a:latin typeface="맑은 고딕"/>
                          <a:ea typeface="맑은 고딕"/>
                        </a:rPr>
                        <a:t>11/18 – 11/24</a:t>
                      </a:r>
                    </a:p>
                  </a:txBody>
                  <a:tcPr marL="109728" marR="109728" anchor="ctr">
                    <a:solidFill>
                      <a:srgbClr val="F6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친구 5명에게 써 보게 하고 의견 반영</a:t>
                      </a:r>
                    </a:p>
                  </a:txBody>
                  <a:tcPr marL="109728" marR="109728" anchor="ctr">
                    <a:solidFill>
                      <a:srgbClr val="F6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테스트 결과</a:t>
                      </a:r>
                    </a:p>
                  </a:txBody>
                  <a:tcPr marL="109728" marR="109728" anchor="ctr">
                    <a:solidFill>
                      <a:srgbClr val="F6F7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 lang="ko-KR" altLang="en-US">
                          <a:solidFill>
                            <a:srgbClr val="0D6B5F"/>
                          </a:solidFill>
                          <a:latin typeface="맑은 고딕"/>
                          <a:ea typeface="맑은 고딕"/>
                        </a:rPr>
                        <a:t>11/25 – 12/1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무료 배포 (Streamlit Cloud), 최종 발표 준비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 altLang="en-US">
                          <a:solidFill>
                            <a:srgbClr val="1B2422"/>
                          </a:solidFill>
                          <a:latin typeface="맑은 고딕"/>
                          <a:ea typeface="맑은 고딕"/>
                        </a:rPr>
                        <a:t>누구나 접속 가능한 링크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lang="ko-KR" altLang="en-US">
                <a:solidFill>
                  <a:srgbClr val="5C6865"/>
                </a:solidFill>
                <a:latin typeface="맑은 고딕"/>
                <a:ea typeface="맑은 고딕"/>
              </a:rPr>
              <a:t>사용 기술  Python · sentence-transformers(무료 임베딩) · Streamlit · JSON 파일  —  비용 0원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B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640080"/>
            <a:ext cx="2926080" cy="292608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2743200"/>
            <a:ext cx="2194560" cy="2194560"/>
          </a:xfrm>
          <a:prstGeom prst="ellipse">
            <a:avLst/>
          </a:prstGeom>
          <a:solidFill>
            <a:srgbClr val="F6C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4023360"/>
            <a:ext cx="1463040" cy="1463040"/>
          </a:xfrm>
          <a:prstGeom prst="ellipse">
            <a:avLst/>
          </a:prstGeom>
          <a:solidFill>
            <a:srgbClr val="F5E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1097280"/>
            <a:ext cx="640080" cy="640080"/>
          </a:xfrm>
          <a:prstGeom prst="ellipse">
            <a:avLst/>
          </a:prstGeom>
          <a:solidFill>
            <a:srgbClr val="F6C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 lang="ko-KR" altLang="en-US">
                <a:solidFill>
                  <a:srgbClr val="DCEFEB"/>
                </a:solidFill>
                <a:latin typeface="맑은 고딕"/>
                <a:ea typeface="맑은 고딕"/>
              </a:rPr>
              <a:t>최종 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77724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3000" b="1" lang="ko-KR" altLang="en-US">
                <a:solidFill>
                  <a:srgbClr val="FFFFFF"/>
                </a:solidFill>
                <a:latin typeface="맑은 고딕"/>
                <a:ea typeface="맑은 고딕"/>
              </a:rPr>
              <a:t>기분 한 문장으로 찾는,
지금 가기 딱 좋은 곳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297680"/>
            <a:ext cx="914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lang="ko-KR" altLang="en-US">
                <a:solidFill>
                  <a:srgbClr val="FFFFFF"/>
                </a:solidFill>
                <a:latin typeface="맑은 고딕"/>
                <a:ea typeface="맑은 고딕"/>
              </a:rPr>
              <a:t>감사합니다  ·  질문 받겠습니다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